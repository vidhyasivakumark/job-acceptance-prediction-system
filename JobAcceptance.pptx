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1" r:id="rId4"/>
    <p:sldId id="283" r:id="rId5"/>
    <p:sldId id="282" r:id="rId6"/>
    <p:sldId id="257" r:id="rId7"/>
    <p:sldId id="25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6" r:id="rId19"/>
    <p:sldId id="272" r:id="rId20"/>
    <p:sldId id="274" r:id="rId21"/>
    <p:sldId id="277" r:id="rId22"/>
    <p:sldId id="288" r:id="rId23"/>
    <p:sldId id="289" r:id="rId24"/>
    <p:sldId id="280" r:id="rId25"/>
    <p:sldId id="292" r:id="rId26"/>
    <p:sldId id="284" r:id="rId27"/>
    <p:sldId id="290" r:id="rId28"/>
    <p:sldId id="29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>
        <p:scale>
          <a:sx n="100" d="100"/>
          <a:sy n="100" d="100"/>
        </p:scale>
        <p:origin x="-516" y="7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442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5381E-B32D-40B1-B4A4-E1EDDBC57A7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B1A52-53A0-45D8-8390-05BEFA3C5C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Job Acceptance Prediction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                                              </a:t>
            </a:r>
          </a:p>
          <a:p>
            <a:r>
              <a:rPr lang="en-US" dirty="0" smtClean="0"/>
              <a:t>                                                    </a:t>
            </a:r>
            <a:r>
              <a:rPr lang="en-US" dirty="0" err="1" smtClean="0"/>
              <a:t>G.vidhya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High offer rejection impacting recruitment efficiency</a:t>
            </a:r>
          </a:p>
          <a:p>
            <a:r>
              <a:rPr lang="en-US" dirty="0" smtClean="0"/>
              <a:t>No predictive system to estimate acceptance probability</a:t>
            </a:r>
          </a:p>
          <a:p>
            <a:r>
              <a:rPr lang="en-US" dirty="0" smtClean="0"/>
              <a:t>Need for data-driven hiring to reduce cost and time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Predict candidate job offer acceptance using Machine Learning</a:t>
            </a:r>
          </a:p>
          <a:p>
            <a:r>
              <a:rPr lang="en-US" dirty="0" smtClean="0"/>
              <a:t>Identify key factors influencing acceptance decisions</a:t>
            </a:r>
          </a:p>
          <a:p>
            <a:r>
              <a:rPr lang="en-US" dirty="0" smtClean="0"/>
              <a:t>Enable data-driven hiring to improve placement success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Dataset Overview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Contains candidate academic, technical skill, experience, and salary-related features</a:t>
            </a:r>
          </a:p>
          <a:p>
            <a:r>
              <a:rPr lang="en-US" dirty="0" smtClean="0"/>
              <a:t>Includes both numerical and categorical variables</a:t>
            </a:r>
          </a:p>
          <a:p>
            <a:r>
              <a:rPr lang="en-US" dirty="0" smtClean="0"/>
              <a:t>Target variable: Job Acceptance Status (0 = Not Placed, 1 = Placed)</a:t>
            </a:r>
          </a:p>
          <a:p>
            <a:r>
              <a:rPr lang="en-US" dirty="0" smtClean="0"/>
              <a:t>The dataset was preprocessed through data cleaning, encoding, and feature engineering before model development.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Cleaning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Handled missing values using appropriate imputation techniques.</a:t>
            </a:r>
          </a:p>
          <a:p>
            <a:r>
              <a:rPr lang="en-US" dirty="0" smtClean="0"/>
              <a:t>Removed duplicate records to ensure data consistency.</a:t>
            </a:r>
          </a:p>
          <a:p>
            <a:r>
              <a:rPr lang="en-US" dirty="0" smtClean="0"/>
              <a:t>Encoded categorical variables into numerical format for model compatibility.</a:t>
            </a:r>
          </a:p>
          <a:p>
            <a:r>
              <a:rPr lang="en-US" dirty="0" smtClean="0"/>
              <a:t>Treated outliers where necessary to improve model stability.</a:t>
            </a:r>
          </a:p>
          <a:p>
            <a:r>
              <a:rPr lang="en-US" dirty="0" smtClean="0"/>
              <a:t>Verified data types and ensured the dataset was ready for EDA and machine learning.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 Acceptance Distribution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6916" y="1614967"/>
            <a:ext cx="6030167" cy="4496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From the target distribution plot I observed that the dataset is moderately imbalanced</a:t>
            </a:r>
          </a:p>
          <a:p>
            <a:r>
              <a:rPr lang="en-US" dirty="0" smtClean="0"/>
              <a:t>This indicates that accuracy alone may not be a reliable evaluation metric. Therefore, I plan to use precision, recall, F1-score</a:t>
            </a:r>
          </a:p>
          <a:p>
            <a:r>
              <a:rPr lang="en-US" dirty="0" smtClean="0"/>
              <a:t>possibly apply techniques like class weighting or SMOTE to handle imbalance.</a:t>
            </a:r>
          </a:p>
          <a:p>
            <a:r>
              <a:rPr lang="en-US" dirty="0" smtClean="0"/>
              <a:t>I ensure balancing is done after train-test split to avoid data leakage.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Academic Performance </a:t>
            </a:r>
            <a:r>
              <a:rPr lang="en-US" dirty="0" err="1" smtClean="0"/>
              <a:t>vs</a:t>
            </a:r>
            <a:r>
              <a:rPr lang="en-US" dirty="0" smtClean="0"/>
              <a:t> Job Acceptance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9364" y="1729283"/>
            <a:ext cx="5525272" cy="4267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Academic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Median degree percentage is almost the same for placed and not placed (~73–74%).</a:t>
            </a:r>
          </a:p>
          <a:p>
            <a:r>
              <a:rPr lang="en-US" dirty="0" smtClean="0"/>
              <a:t>Academic marks alone do not strongly differentiate placement outcomes.</a:t>
            </a:r>
          </a:p>
          <a:p>
            <a:r>
              <a:rPr lang="en-US" dirty="0" smtClean="0"/>
              <a:t>Skills, interview performance, and experience play a more critical role.</a:t>
            </a:r>
          </a:p>
          <a:p>
            <a:r>
              <a:rPr lang="en-US" dirty="0" smtClean="0"/>
              <a:t>Outliers exist in both categories, showing marks are not the deciding factor.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Skills Match </a:t>
            </a:r>
            <a:r>
              <a:rPr lang="en-US" dirty="0" err="1" smtClean="0"/>
              <a:t>vs</a:t>
            </a:r>
            <a:r>
              <a:rPr lang="en-US" dirty="0" smtClean="0"/>
              <a:t> Job Acceptance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7443" y="1681652"/>
            <a:ext cx="5649114" cy="436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Skill Match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28800"/>
            <a:ext cx="8229600" cy="4525963"/>
          </a:xfrm>
        </p:spPr>
        <p:txBody>
          <a:bodyPr>
            <a:normAutofit/>
          </a:bodyPr>
          <a:lstStyle/>
          <a:p>
            <a:r>
              <a:rPr lang="en-US" b="1" dirty="0" smtClean="0"/>
              <a:t>Skills match percentage is a strong differentiating factor for job acceptance.</a:t>
            </a:r>
            <a:endParaRPr lang="en-US" dirty="0" smtClean="0"/>
          </a:p>
          <a:p>
            <a:r>
              <a:rPr lang="en-US" dirty="0" smtClean="0"/>
              <a:t>The entire box of “Placed” is shifted upward.</a:t>
            </a:r>
          </a:p>
          <a:p>
            <a:r>
              <a:rPr lang="en-US" dirty="0" smtClean="0"/>
              <a:t>This indicates a </a:t>
            </a:r>
            <a:r>
              <a:rPr lang="en-US" b="1" dirty="0" smtClean="0"/>
              <a:t>positive relationship</a:t>
            </a:r>
            <a:r>
              <a:rPr lang="en-US" dirty="0" smtClean="0"/>
              <a:t> between skills match and placement.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Experience </a:t>
            </a:r>
            <a:r>
              <a:rPr lang="en-US" dirty="0" err="1" smtClean="0"/>
              <a:t>vs</a:t>
            </a:r>
            <a:r>
              <a:rPr lang="en-US" dirty="0" smtClean="0"/>
              <a:t> Job Acceptance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0811" y="1748336"/>
            <a:ext cx="5382377" cy="4229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Candidates with higher years of experience have a greater probability of job acceptance.</a:t>
            </a:r>
            <a:endParaRPr lang="en-US" dirty="0" smtClean="0"/>
          </a:p>
          <a:p>
            <a:r>
              <a:rPr lang="en-US" dirty="0" smtClean="0"/>
              <a:t>Experience is a </a:t>
            </a:r>
            <a:r>
              <a:rPr lang="en-US" b="1" dirty="0" smtClean="0"/>
              <a:t>strong differentiating feature</a:t>
            </a:r>
            <a:r>
              <a:rPr lang="en-US" dirty="0" smtClean="0"/>
              <a:t>,.</a:t>
            </a:r>
          </a:p>
          <a:p>
            <a:r>
              <a:rPr lang="en-US" dirty="0" smtClean="0"/>
              <a:t>Experience positively influences placement chances.</a:t>
            </a:r>
          </a:p>
          <a:p>
            <a:r>
              <a:rPr lang="en-US" dirty="0" smtClean="0"/>
              <a:t>This is a strong signal.</a:t>
            </a:r>
          </a:p>
          <a:p>
            <a:r>
              <a:rPr lang="en-US" dirty="0" smtClean="0"/>
              <a:t>Experience → Visible upward shift → Stronger predictor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Company Tier </a:t>
            </a:r>
            <a:r>
              <a:rPr lang="en-US" dirty="0" err="1" smtClean="0"/>
              <a:t>vs</a:t>
            </a:r>
            <a:r>
              <a:rPr lang="en-US" dirty="0" smtClean="0"/>
              <a:t> Acceptance Rate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Company Tier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2132856"/>
            <a:ext cx="5286375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Company tier does NOT strongly influence placement probability.</a:t>
            </a:r>
          </a:p>
          <a:p>
            <a:r>
              <a:rPr lang="en-US" dirty="0" smtClean="0"/>
              <a:t>The analysis reveals that Tier 1 companies have the highest number of placements, followed by Tier 2 and Tier 3 companies. However, absolute counts alone do not fully represent acceptance likelihood.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</a:t>
            </a:r>
            <a:r>
              <a:rPr lang="en-US" dirty="0" err="1" smtClean="0"/>
              <a:t>Heatmap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7228" y="1600200"/>
            <a:ext cx="598954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numerical features show low to moderate correlation.</a:t>
            </a:r>
          </a:p>
          <a:p>
            <a:r>
              <a:rPr lang="en-US" dirty="0" smtClean="0"/>
              <a:t>Academic</a:t>
            </a:r>
            <a:r>
              <a:rPr lang="en-US" dirty="0" smtClean="0"/>
              <a:t>, skills, and interview features behave independently.</a:t>
            </a:r>
          </a:p>
          <a:p>
            <a:r>
              <a:rPr lang="en-US" dirty="0" smtClean="0"/>
              <a:t>Independent features help the model capture diverse candidate attributes effectively.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classification models were trained and evaluated.</a:t>
            </a:r>
          </a:p>
          <a:p>
            <a:r>
              <a:rPr lang="en-US" dirty="0" smtClean="0"/>
              <a:t>Performance was compared using Accuracy, Precision, Recall, F1-Score, and ROC AUC.</a:t>
            </a:r>
          </a:p>
          <a:p>
            <a:r>
              <a:rPr lang="en-US" dirty="0" smtClean="0"/>
              <a:t>Random Forest outperformed other models with the highest overall performance.</a:t>
            </a:r>
          </a:p>
          <a:p>
            <a:r>
              <a:rPr lang="en-US" dirty="0" smtClean="0"/>
              <a:t>The final model was selected based on better generalization and stability.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Importance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Importance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Shows how much each feature contributes to prediction.</a:t>
            </a:r>
          </a:p>
          <a:p>
            <a:r>
              <a:rPr lang="en-US" dirty="0" smtClean="0"/>
              <a:t>Higher importance score = stronger influence on decision.</a:t>
            </a:r>
          </a:p>
          <a:p>
            <a:r>
              <a:rPr lang="en-US" dirty="0" smtClean="0"/>
              <a:t>Removing low-importance features reduces model complexity.</a:t>
            </a:r>
          </a:p>
          <a:p>
            <a:r>
              <a:rPr lang="en-US" dirty="0" smtClean="0"/>
              <a:t>Improves model speed and reduces </a:t>
            </a:r>
            <a:r>
              <a:rPr lang="en-US" dirty="0" err="1" smtClean="0"/>
              <a:t>overfitting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Feature Selection Analysis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Feature selection was performed using an importance cutoff of 0.01.</a:t>
            </a:r>
            <a:br>
              <a:rPr lang="en-US" dirty="0" smtClean="0"/>
            </a:br>
            <a:r>
              <a:rPr lang="en-US" dirty="0" smtClean="0"/>
              <a:t>The reduced model achieved:</a:t>
            </a:r>
          </a:p>
          <a:p>
            <a:r>
              <a:rPr lang="en-US" dirty="0" smtClean="0"/>
              <a:t>Accuracy: 87.91%</a:t>
            </a:r>
          </a:p>
          <a:p>
            <a:r>
              <a:rPr lang="en-US" dirty="0" smtClean="0"/>
              <a:t>ROC AUC: 0.9488</a:t>
            </a:r>
          </a:p>
          <a:p>
            <a:r>
              <a:rPr lang="en-US" dirty="0" smtClean="0"/>
              <a:t>Compared to the full model:</a:t>
            </a:r>
          </a:p>
          <a:p>
            <a:r>
              <a:rPr lang="en-US" dirty="0" smtClean="0"/>
              <a:t>Accuracy: 88.63%</a:t>
            </a:r>
          </a:p>
          <a:p>
            <a:r>
              <a:rPr lang="en-US" dirty="0" smtClean="0"/>
              <a:t>ROC AUC: 0.9551</a:t>
            </a:r>
          </a:p>
          <a:p>
            <a:r>
              <a:rPr lang="en-US" dirty="0" smtClean="0"/>
              <a:t>Since the full model demonstrated slightly better performance, it was selected as the final production model.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Analytical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Technical skills, interview performance, and skills match are the strongest drivers of job acceptance.</a:t>
            </a:r>
          </a:p>
          <a:p>
            <a:r>
              <a:rPr lang="en-US" dirty="0" smtClean="0"/>
              <a:t>Experience level significantly increases placement probability, especially for senior candidates.</a:t>
            </a:r>
          </a:p>
          <a:p>
            <a:r>
              <a:rPr lang="en-US" dirty="0" smtClean="0"/>
              <a:t>Academic scores and certifications alone do not strongly differentiate placed </a:t>
            </a:r>
            <a:r>
              <a:rPr lang="en-US" dirty="0" err="1" smtClean="0"/>
              <a:t>vs</a:t>
            </a:r>
            <a:r>
              <a:rPr lang="en-US" dirty="0" smtClean="0"/>
              <a:t> not placed candidates.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model shows clear probability separation, confirming strong predictive performance (ROC AUC ~0.95).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Segmentation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High Acceptance Probability (≥ 75%)</a:t>
            </a:r>
            <a:r>
              <a:rPr lang="en-US" dirty="0" smtClean="0"/>
              <a:t> – Strong likelihood of offer acceptance</a:t>
            </a:r>
          </a:p>
          <a:p>
            <a:r>
              <a:rPr lang="en-US" b="1" dirty="0" smtClean="0"/>
              <a:t>Medium Probability (40% – 75%)</a:t>
            </a:r>
            <a:r>
              <a:rPr lang="en-US" dirty="0" smtClean="0"/>
              <a:t> – Requires follow-up and engagement</a:t>
            </a:r>
          </a:p>
          <a:p>
            <a:r>
              <a:rPr lang="en-US" b="1" dirty="0" smtClean="0"/>
              <a:t>High Drop Risk (&lt; 40%)</a:t>
            </a:r>
            <a:r>
              <a:rPr lang="en-US" dirty="0" smtClean="0"/>
              <a:t> – Needs proactive HR intervention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Streamlit</a:t>
            </a:r>
            <a:r>
              <a:rPr lang="en-US" dirty="0" smtClean="0"/>
              <a:t> </a:t>
            </a:r>
            <a:r>
              <a:rPr lang="en-US" dirty="0" err="1" smtClean="0"/>
              <a:t>Dahboard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229600" cy="3684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Prediction Page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98950"/>
            <a:ext cx="8229600" cy="372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Predict acceptance probability before offer release.</a:t>
            </a:r>
          </a:p>
          <a:p>
            <a:r>
              <a:rPr lang="en-US" dirty="0" smtClean="0"/>
              <a:t>Optimize interview and selection strategy.</a:t>
            </a:r>
          </a:p>
          <a:p>
            <a:r>
              <a:rPr lang="en-US" dirty="0" smtClean="0"/>
              <a:t>Reduce offer dropout rate.</a:t>
            </a:r>
          </a:p>
          <a:p>
            <a:r>
              <a:rPr lang="en-US" dirty="0" smtClean="0"/>
              <a:t>Improve recruitment ROI.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Built a high-performance model to predict job offer acceptance.</a:t>
            </a:r>
          </a:p>
          <a:p>
            <a:r>
              <a:rPr lang="en-US" dirty="0" smtClean="0"/>
              <a:t>Identified skills, experience, and salary alignment as key drivers.</a:t>
            </a:r>
          </a:p>
          <a:p>
            <a:r>
              <a:rPr lang="en-US" dirty="0" smtClean="0"/>
              <a:t>Enabled data-driven hiring to reduce offer dropouts and improve recruitment efficiency.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47664" y="3284984"/>
          <a:ext cx="609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Thank you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12476</TotalTime>
  <Words>720</Words>
  <Application>Microsoft Office PowerPoint</Application>
  <PresentationFormat>On-screen Show (4:3)</PresentationFormat>
  <Paragraphs>97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Job Acceptance Prediction System</vt:lpstr>
      <vt:lpstr>Problem Statement</vt:lpstr>
      <vt:lpstr>Objectives</vt:lpstr>
      <vt:lpstr>Dataset Overview </vt:lpstr>
      <vt:lpstr>Data Cleaning</vt:lpstr>
      <vt:lpstr>Job Acceptance Distribution</vt:lpstr>
      <vt:lpstr>Distribution</vt:lpstr>
      <vt:lpstr>Academic Performance vs Job Acceptance</vt:lpstr>
      <vt:lpstr>Academic Performance</vt:lpstr>
      <vt:lpstr>Skills Match vs Job Acceptance</vt:lpstr>
      <vt:lpstr>Skill Match</vt:lpstr>
      <vt:lpstr>Experience vs Job Acceptance</vt:lpstr>
      <vt:lpstr>Experience</vt:lpstr>
      <vt:lpstr>Company Tier vs Acceptance Rate</vt:lpstr>
      <vt:lpstr>Slide 15</vt:lpstr>
      <vt:lpstr>Correlation Heatmap</vt:lpstr>
      <vt:lpstr>Correlation </vt:lpstr>
      <vt:lpstr>Model Comparison</vt:lpstr>
      <vt:lpstr>Feature Importance</vt:lpstr>
      <vt:lpstr>Feature Importance</vt:lpstr>
      <vt:lpstr>Feature Selection Analysis </vt:lpstr>
      <vt:lpstr>Analytical Insights</vt:lpstr>
      <vt:lpstr>Risk Segmentation</vt:lpstr>
      <vt:lpstr>Streamlit Dahboard </vt:lpstr>
      <vt:lpstr>Prediction Page</vt:lpstr>
      <vt:lpstr>Business Recommendations</vt:lpstr>
      <vt:lpstr>Conclusion</vt:lpstr>
      <vt:lpstr>Slide 28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26</cp:revision>
  <dcterms:created xsi:type="dcterms:W3CDTF">2026-02-19T06:46:54Z</dcterms:created>
  <dcterms:modified xsi:type="dcterms:W3CDTF">2026-03-12T04:30:27Z</dcterms:modified>
</cp:coreProperties>
</file>